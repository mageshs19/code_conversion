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1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" dt="2026-09-15T09:39:56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AI_Technical_Lineage_Automation.pptx (user-provided content source)</a:t>
            </a:r>
          </a:p>
          <a:p>
            <a:r>
              <a:t>- Template.pptx (user-provided visual template)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AI_Technical_Lineage_Automation.pptx (user-provided content source)</a:t>
            </a:r>
          </a:p>
          <a:p>
            <a:r>
              <a:t>- Template.pptx (user-provided visual template)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AI_Technical_Lineage_Automation.pptx (user-provided content source)</a:t>
            </a:r>
          </a:p>
          <a:p>
            <a:r>
              <a:t>- Template.pptx (user-provided visual template)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AI_Technical_Lineage_Automation.pptx (user-provided content source)</a:t>
            </a:r>
          </a:p>
          <a:p>
            <a:r>
              <a:t>- Template.pptx (user-provided visual template)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_grey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18E91C5-445E-D043-81C3-1395737F884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1" y="3176527"/>
            <a:ext cx="5768681" cy="489919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3032">
                <a:solidFill>
                  <a:srgbClr val="C30045"/>
                </a:solidFill>
                <a:latin typeface="Belfius21 Light"/>
                <a:ea typeface="Belfius21 Light"/>
                <a:cs typeface="Belfius21 Light"/>
              </a:defRPr>
            </a:lvl1pPr>
            <a:lvl2pPr>
              <a:buNone/>
              <a:defRPr sz="3032">
                <a:solidFill>
                  <a:srgbClr val="C30045"/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3032">
                <a:solidFill>
                  <a:srgbClr val="C30045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3032">
                <a:solidFill>
                  <a:srgbClr val="C30045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3032">
                <a:solidFill>
                  <a:srgbClr val="C30045"/>
                </a:solidFill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A17AB-E970-4181-9D68-FEEF30A5B811}"/>
              </a:ext>
            </a:extLst>
          </p:cNvPr>
          <p:cNvSpPr>
            <a:spLocks noGrp="1"/>
          </p:cNvSpPr>
          <p:nvPr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>
            <a:noAutofit/>
          </a:bodyPr>
          <a:lstStyle/>
          <a:p>
            <a:pPr algn="ctr">
              <a:buNone/>
            </a:pPr>
            <a:fld id="{69ADA83D-DF77-AA76-6DA0-7A70CD7A4D20}" type="slidenum">
              <a:rPr sz="1213">
                <a:solidFill>
                  <a:schemeClr val="accent2">
                    <a:lumMod val="20000"/>
                    <a:lumOff val="80000"/>
                  </a:schemeClr>
                </a:solidFill>
                <a:latin typeface="Belfius Montserrat Light"/>
                <a:ea typeface="Belfius Montserrat Light"/>
                <a:cs typeface="Belfius Montserrat Light"/>
              </a:rPr>
              <a:t>‹#›</a:t>
            </a:fld>
            <a:endParaRPr sz="1213">
              <a:solidFill>
                <a:schemeClr val="accent2">
                  <a:lumMod val="20000"/>
                  <a:lumOff val="80000"/>
                </a:schemeClr>
              </a:solidFill>
              <a:latin typeface="Belfius Montserrat Light"/>
              <a:ea typeface="Belfius Montserrat Light"/>
              <a:cs typeface="Belfius Montserrat Light"/>
            </a:endParaRPr>
          </a:p>
        </p:txBody>
      </p:sp>
      <p:pic>
        <p:nvPicPr>
          <p:cNvPr id="10" name="E2CEC214-CD71-4FB3-86D4-ED4D60478DE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52400" y="6279614"/>
            <a:ext cx="1158242" cy="265786"/>
          </a:xfrm>
          <a:prstGeom prst="rect">
            <a:avLst/>
          </a:prstGeom>
          <a:ln>
            <a:noFill/>
          </a:ln>
        </p:spPr>
      </p:pic>
      <p:pic>
        <p:nvPicPr>
          <p:cNvPr id="11" name="Picture 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93986" y="259484"/>
            <a:ext cx="914400" cy="1206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ac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489648-D5E5-4BF1-BF52-C5F91611107F}"/>
              </a:ext>
            </a:extLst>
          </p:cNvPr>
          <p:cNvSpPr>
            <a:spLocks noGrp="1"/>
          </p:cNvSpPr>
          <p:nvPr/>
        </p:nvSpPr>
        <p:spPr>
          <a:xfrm>
            <a:off x="148458" y="6341741"/>
            <a:ext cx="421357" cy="274811"/>
          </a:xfrm>
          <a:prstGeom prst="rect">
            <a:avLst/>
          </a:prstGeom>
          <a:noFill/>
        </p:spPr>
        <p:txBody>
          <a:bodyPr wrap="square" lIns="43661" tIns="43661" rIns="43661" bIns="43661">
            <a:noAutofit/>
          </a:bodyPr>
          <a:lstStyle/>
          <a:p>
            <a:pPr algn="ctr">
              <a:buNone/>
            </a:pPr>
            <a:fld id="{69ADA83D-DF77-AA76-6DA0-7A70CD7A4D20}" type="slidenum">
              <a:rPr sz="1213">
                <a:solidFill>
                  <a:srgbClr val="535353"/>
                </a:solidFill>
                <a:latin typeface="Belfius Montserrat Light"/>
                <a:ea typeface="Belfius Montserrat Light"/>
                <a:cs typeface="Belfius Montserrat Light"/>
              </a:rPr>
              <a:t>‹#›</a:t>
            </a:fld>
            <a:endParaRPr sz="1213">
              <a:solidFill>
                <a:srgbClr val="535353"/>
              </a:solidFill>
              <a:latin typeface="Belfius Montserrat Light"/>
              <a:ea typeface="Belfius Montserrat Light"/>
              <a:cs typeface="Belfius Montserrat Light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96D03B1-EBEC-408A-94AA-8AB4787CAB06}"/>
              </a:ext>
            </a:extLst>
          </p:cNvPr>
          <p:cNvSpPr>
            <a:spLocks noGrp="1"/>
          </p:cNvSpPr>
          <p:nvPr/>
        </p:nvSpPr>
        <p:spPr>
          <a:xfrm>
            <a:off x="647257" y="697528"/>
            <a:ext cx="0" cy="312968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878C9C5-1518-0048-A524-8BB9BD064A00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55793" y="1302481"/>
            <a:ext cx="10871929" cy="50392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092">
                <a:solidFill>
                  <a:srgbClr val="535353"/>
                </a:solidFill>
                <a:latin typeface="Belfius21 Light"/>
                <a:ea typeface="Belfius21 Light"/>
                <a:cs typeface="Belfius21 Light"/>
              </a:defRPr>
            </a:lvl1pPr>
            <a:lvl2pPr marL="0" algn="l">
              <a:lnSpc>
                <a:spcPct val="150000"/>
              </a:lnSpc>
              <a:buNone/>
              <a:defRPr sz="1092">
                <a:solidFill>
                  <a:srgbClr val="535353"/>
                </a:solidFill>
                <a:latin typeface="Montserrat Light"/>
                <a:ea typeface="Montserrat Light"/>
                <a:cs typeface="Montserrat Light"/>
              </a:defRPr>
            </a:lvl2pPr>
            <a:lvl3pPr marL="0" algn="l">
              <a:lnSpc>
                <a:spcPct val="150000"/>
              </a:lnSpc>
              <a:buNone/>
              <a:defRPr sz="1092">
                <a:solidFill>
                  <a:srgbClr val="535353"/>
                </a:solidFill>
                <a:latin typeface="Montserrat Light"/>
                <a:ea typeface="Montserrat Light"/>
                <a:cs typeface="Montserrat Light"/>
              </a:defRPr>
            </a:lvl3pPr>
            <a:lvl4pPr marL="0" algn="l">
              <a:lnSpc>
                <a:spcPct val="150000"/>
              </a:lnSpc>
              <a:buNone/>
              <a:defRPr sz="1092">
                <a:solidFill>
                  <a:srgbClr val="535353"/>
                </a:solidFill>
                <a:latin typeface="Montserrat Light"/>
                <a:ea typeface="Montserrat Light"/>
                <a:cs typeface="Montserrat Light"/>
              </a:defRPr>
            </a:lvl4pPr>
            <a:lvl5pPr marL="0" algn="l">
              <a:lnSpc>
                <a:spcPct val="150000"/>
              </a:lnSpc>
              <a:buNone/>
              <a:defRPr sz="1092">
                <a:solidFill>
                  <a:srgbClr val="535353"/>
                </a:solidFill>
                <a:latin typeface="Montserrat Light"/>
                <a:ea typeface="Montserrat Light"/>
                <a:cs typeface="Montserrat Light"/>
              </a:defRPr>
            </a:lvl5pPr>
          </a:lstStyle>
          <a:p>
            <a:pPr>
              <a:buNone/>
            </a:pPr>
            <a:endParaRPr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4ABFE98-29B5-B14E-AD72-461DF970DC6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25425" y="646302"/>
            <a:ext cx="10602297" cy="4105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535353"/>
                </a:solidFill>
                <a:latin typeface="Belfius21 Light"/>
                <a:ea typeface="Belfius21 Light"/>
                <a:cs typeface="Belfius21 Light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E2CEC214-CD71-4FB3-86D4-ED4D60478DE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868024" y="160122"/>
            <a:ext cx="1075967" cy="246906"/>
          </a:xfrm>
          <a:prstGeom prst="rect">
            <a:avLst/>
          </a:prstGeom>
          <a:ln>
            <a:noFill/>
          </a:ln>
        </p:spPr>
      </p:pic>
      <p:pic>
        <p:nvPicPr>
          <p:cNvPr id="21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915525" y="248529"/>
            <a:ext cx="807036" cy="10648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6915" y="6367661"/>
            <a:ext cx="257767" cy="173980"/>
          </a:xfrm>
          <a:prstGeom prst="rect">
            <a:avLst/>
          </a:prstGeom>
        </p:spPr>
      </p:pic>
      <p:pic>
        <p:nvPicPr>
          <p:cNvPr id="4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51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>
        <a:buNone/>
        <a:defRPr>
          <a:latin typeface="+mj-lt"/>
          <a:ea typeface="+mj-lt"/>
          <a:cs typeface="+mj-lt"/>
        </a:defRPr>
      </a:lvl1pPr>
    </p:titleStyle>
    <p:bodyStyle>
      <a:lvl1pPr marL="0">
        <a:buNone/>
        <a:defRPr>
          <a:latin typeface="+mn-lt"/>
          <a:ea typeface="+mn-lt"/>
          <a:cs typeface="+mn-lt"/>
        </a:defRPr>
      </a:lvl1pPr>
      <a:lvl2pPr marL="277240">
        <a:buNone/>
        <a:defRPr>
          <a:latin typeface="+mn-lt"/>
          <a:ea typeface="+mn-lt"/>
          <a:cs typeface="+mn-lt"/>
        </a:defRPr>
      </a:lvl2pPr>
      <a:lvl3pPr marL="554478">
        <a:buNone/>
        <a:defRPr>
          <a:latin typeface="+mn-lt"/>
          <a:ea typeface="+mn-lt"/>
          <a:cs typeface="+mn-lt"/>
        </a:defRPr>
      </a:lvl3pPr>
      <a:lvl4pPr marL="831718">
        <a:buNone/>
        <a:defRPr>
          <a:latin typeface="+mn-lt"/>
          <a:ea typeface="+mn-lt"/>
          <a:cs typeface="+mn-lt"/>
        </a:defRPr>
      </a:lvl4pPr>
      <a:lvl5pPr marL="1108956">
        <a:buNone/>
        <a:defRPr>
          <a:latin typeface="+mn-lt"/>
          <a:ea typeface="+mn-lt"/>
          <a:cs typeface="+mn-lt"/>
        </a:defRPr>
      </a:lvl5pPr>
      <a:lvl6pPr marL="1386196">
        <a:buNone/>
        <a:defRPr>
          <a:latin typeface="+mn-lt"/>
          <a:ea typeface="+mn-lt"/>
          <a:cs typeface="+mn-lt"/>
        </a:defRPr>
      </a:lvl6pPr>
      <a:lvl7pPr marL="1663434">
        <a:buNone/>
        <a:defRPr>
          <a:latin typeface="+mn-lt"/>
          <a:ea typeface="+mn-lt"/>
          <a:cs typeface="+mn-lt"/>
        </a:defRPr>
      </a:lvl7pPr>
      <a:lvl8pPr marL="1940674">
        <a:buNone/>
        <a:defRPr>
          <a:latin typeface="+mn-lt"/>
          <a:ea typeface="+mn-lt"/>
          <a:cs typeface="+mn-lt"/>
        </a:defRPr>
      </a:lvl8pPr>
      <a:lvl9pPr marL="2217913">
        <a:buNone/>
        <a:defRPr>
          <a:latin typeface="+mn-lt"/>
          <a:ea typeface="+mn-lt"/>
          <a:cs typeface="+mn-lt"/>
        </a:defRPr>
      </a:lvl9pPr>
    </p:bodyStyle>
    <p:otherStyle>
      <a:lvl1pPr marL="0">
        <a:buNone/>
        <a:defRPr>
          <a:latin typeface="+mn-lt"/>
          <a:ea typeface="+mn-lt"/>
          <a:cs typeface="+mn-lt"/>
        </a:defRPr>
      </a:lvl1pPr>
      <a:lvl2pPr marL="277240">
        <a:buNone/>
        <a:defRPr>
          <a:latin typeface="+mn-lt"/>
          <a:ea typeface="+mn-lt"/>
          <a:cs typeface="+mn-lt"/>
        </a:defRPr>
      </a:lvl2pPr>
      <a:lvl3pPr marL="554478">
        <a:buNone/>
        <a:defRPr>
          <a:latin typeface="+mn-lt"/>
          <a:ea typeface="+mn-lt"/>
          <a:cs typeface="+mn-lt"/>
        </a:defRPr>
      </a:lvl3pPr>
      <a:lvl4pPr marL="831718">
        <a:buNone/>
        <a:defRPr>
          <a:latin typeface="+mn-lt"/>
          <a:ea typeface="+mn-lt"/>
          <a:cs typeface="+mn-lt"/>
        </a:defRPr>
      </a:lvl4pPr>
      <a:lvl5pPr marL="1108956">
        <a:buNone/>
        <a:defRPr>
          <a:latin typeface="+mn-lt"/>
          <a:ea typeface="+mn-lt"/>
          <a:cs typeface="+mn-lt"/>
        </a:defRPr>
      </a:lvl5pPr>
      <a:lvl6pPr marL="1386196">
        <a:buNone/>
        <a:defRPr>
          <a:latin typeface="+mn-lt"/>
          <a:ea typeface="+mn-lt"/>
          <a:cs typeface="+mn-lt"/>
        </a:defRPr>
      </a:lvl6pPr>
      <a:lvl7pPr marL="1663434">
        <a:buNone/>
        <a:defRPr>
          <a:latin typeface="+mn-lt"/>
          <a:ea typeface="+mn-lt"/>
          <a:cs typeface="+mn-lt"/>
        </a:defRPr>
      </a:lvl7pPr>
      <a:lvl8pPr marL="1940674">
        <a:buNone/>
        <a:defRPr>
          <a:latin typeface="+mn-lt"/>
          <a:ea typeface="+mn-lt"/>
          <a:cs typeface="+mn-lt"/>
        </a:defRPr>
      </a:lvl8pPr>
      <a:lvl9pPr marL="2217913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C83A7B-FD20-405E-A16C-416AD10524C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70881" y="2913321"/>
            <a:ext cx="5981566" cy="909171"/>
          </a:xfrm>
        </p:spPr>
        <p:txBody>
          <a:bodyPr lIns="91440" tIns="45720" rIns="91440" bIns="45720" anchor="ctr"/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Lato"/>
                <a:ea typeface="Lato"/>
                <a:cs typeface="Lato"/>
              </a:rPr>
              <a:t>Pre-Promote</a:t>
            </a:r>
            <a:r>
              <a:rPr sz="3200" b="1" dirty="0">
                <a:solidFill>
                  <a:srgbClr val="C00000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Lato"/>
                <a:ea typeface="Lato"/>
                <a:cs typeface="Lato"/>
              </a:rPr>
              <a:t>checks </a:t>
            </a:r>
            <a:r>
              <a:rPr sz="3200" b="1" dirty="0">
                <a:solidFill>
                  <a:srgbClr val="C00000"/>
                </a:solidFill>
                <a:latin typeface="Lato"/>
                <a:ea typeface="Lato"/>
                <a:cs typeface="Lato"/>
              </a:rPr>
              <a:t>Automation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37B828E-6F8D-FED8-7B30-1D1E01CF2ED8}"/>
              </a:ext>
            </a:extLst>
          </p:cNvPr>
          <p:cNvSpPr>
            <a:spLocks noGrp="1"/>
          </p:cNvSpPr>
          <p:nvPr/>
        </p:nvSpPr>
        <p:spPr>
          <a:xfrm>
            <a:off x="9306243" y="4995069"/>
            <a:ext cx="2450725" cy="32297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>
              <a:buNone/>
              <a:defRPr>
                <a:latin typeface="+mn-lt"/>
                <a:ea typeface="+mn-lt"/>
                <a:cs typeface="+mn-lt"/>
              </a:defRPr>
            </a:lvl1pPr>
            <a:lvl2pPr marL="277240">
              <a:buNone/>
              <a:defRPr>
                <a:latin typeface="+mn-lt"/>
                <a:ea typeface="+mn-lt"/>
                <a:cs typeface="+mn-lt"/>
              </a:defRPr>
            </a:lvl2pPr>
            <a:lvl3pPr marL="554478">
              <a:buNone/>
              <a:defRPr>
                <a:latin typeface="+mn-lt"/>
                <a:ea typeface="+mn-lt"/>
                <a:cs typeface="+mn-lt"/>
              </a:defRPr>
            </a:lvl3pPr>
            <a:lvl4pPr marL="831718">
              <a:buNone/>
              <a:defRPr>
                <a:latin typeface="+mn-lt"/>
                <a:ea typeface="+mn-lt"/>
                <a:cs typeface="+mn-lt"/>
              </a:defRPr>
            </a:lvl4pPr>
            <a:lvl5pPr marL="1108956">
              <a:buNone/>
              <a:defRPr>
                <a:latin typeface="+mn-lt"/>
                <a:ea typeface="+mn-lt"/>
                <a:cs typeface="+mn-lt"/>
              </a:defRPr>
            </a:lvl5pPr>
            <a:lvl6pPr marL="1386196">
              <a:buNone/>
              <a:defRPr>
                <a:latin typeface="+mn-lt"/>
                <a:ea typeface="+mn-lt"/>
                <a:cs typeface="+mn-lt"/>
              </a:defRPr>
            </a:lvl6pPr>
            <a:lvl7pPr marL="1663434">
              <a:buNone/>
              <a:defRPr>
                <a:latin typeface="+mn-lt"/>
                <a:ea typeface="+mn-lt"/>
                <a:cs typeface="+mn-lt"/>
              </a:defRPr>
            </a:lvl7pPr>
            <a:lvl8pPr marL="1940674">
              <a:buNone/>
              <a:defRPr>
                <a:latin typeface="+mn-lt"/>
                <a:ea typeface="+mn-lt"/>
                <a:cs typeface="+mn-lt"/>
              </a:defRPr>
            </a:lvl8pPr>
            <a:lvl9pPr marL="2217913">
              <a:buNone/>
              <a:defRPr>
                <a:latin typeface="+mn-lt"/>
                <a:ea typeface="+mn-lt"/>
                <a:cs typeface="+mn-lt"/>
              </a:defRPr>
            </a:lvl9pPr>
          </a:lstStyle>
          <a:p>
            <a:r>
              <a:rPr sz="2400">
                <a:solidFill>
                  <a:sysClr val="windowText" lastClr="000000"/>
                </a:solidFill>
              </a:rPr>
              <a:t>Aaron Sam A S</a:t>
            </a:r>
            <a:endParaRPr lang="en-US" sz="2400">
              <a:solidFill>
                <a:sysClr val="windowText" lastClr="000000"/>
              </a:solidFill>
            </a:endParaRP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93986" y="259484"/>
            <a:ext cx="914400" cy="1206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476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6E57A-C3AE-22F6-628C-E79D7BA1502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25425" y="646302"/>
            <a:ext cx="10890655" cy="410599"/>
          </a:xfrm>
        </p:spPr>
        <p:txBody>
          <a:bodyPr/>
          <a:lstStyle/>
          <a:p>
            <a:pPr>
              <a:defRPr sz="2800" b="1"/>
            </a:pPr>
            <a:r>
              <a:t>Pre-Promote Checks Application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F4003-68A9-EC63-766C-6D683E37FBA6}"/>
              </a:ext>
            </a:extLst>
          </p:cNvPr>
          <p:cNvSpPr>
            <a:spLocks noGrp="1"/>
          </p:cNvSpPr>
          <p:nvPr/>
        </p:nvSpPr>
        <p:spPr>
          <a:xfrm>
            <a:off x="925425" y="1963711"/>
            <a:ext cx="10407139" cy="301302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  <a:buNone/>
              <a:defRPr sz="2200" b="1"/>
            </a:pPr>
            <a:r>
              <a:t>Application Overview</a:t>
            </a:r>
          </a:p>
          <a:p>
            <a:pPr lvl="1">
              <a:spcAft>
                <a:spcPts val="1000"/>
              </a:spcAft>
              <a:defRPr sz="2000" b="0"/>
            </a:pPr>
            <a:r>
              <a:t>A web-based validation application that checks an Excel Promote Sheet before deployment.</a:t>
            </a:r>
          </a:p>
          <a:p>
            <a:pPr lvl="1">
              <a:spcAft>
                <a:spcPts val="1000"/>
              </a:spcAft>
              <a:defRPr sz="2000" b="0"/>
            </a:pPr>
            <a:r>
              <a:t>• Accepts the release number, promote date, environment and scope as input.</a:t>
            </a:r>
          </a:p>
          <a:p>
            <a:pPr lvl="1">
              <a:spcAft>
                <a:spcPts val="1000"/>
              </a:spcAft>
              <a:defRPr sz="2000" b="0"/>
            </a:pPr>
            <a:r>
              <a:t>• Reads the four required sheets: Physical Files, SAS Metadata, Other Actions and Service Request.</a:t>
            </a:r>
          </a:p>
          <a:p>
            <a:pPr lvl="1">
              <a:spcAft>
                <a:spcPts val="1000"/>
              </a:spcAft>
              <a:defRPr sz="2000" b="0"/>
            </a:pPr>
            <a:r>
              <a:t>• Filters records using the selected release, date, environment and scope.</a:t>
            </a:r>
          </a:p>
          <a:p>
            <a:pPr lvl="1">
              <a:spcAft>
                <a:spcPts val="1000"/>
              </a:spcAft>
              <a:defRPr sz="2000" b="0"/>
            </a:pPr>
            <a:r>
              <a:t>• Validates readiness, required fields, duplicates and component-level criteria.</a:t>
            </a:r>
          </a:p>
          <a:p>
            <a:pPr lvl="1">
              <a:spcAft>
                <a:spcPts val="1000"/>
              </a:spcAft>
              <a:defRPr sz="2000" b="0"/>
            </a:pPr>
            <a:r>
              <a:t>• Displays Correct, Incorrect and Total components with validation exceptions.</a:t>
            </a:r>
          </a:p>
        </p:txBody>
      </p:sp>
    </p:spTree>
    <p:extLst>
      <p:ext uri="{BB962C8B-B14F-4D97-AF65-F5344CB8AC3E}">
        <p14:creationId xmlns:p14="http://schemas.microsoft.com/office/powerpoint/2010/main" val="3239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2702398-C02D-0788-6BD2-FE23DCA70A9A}"/>
              </a:ext>
            </a:extLst>
          </p:cNvPr>
          <p:cNvSpPr>
            <a:spLocks noGrp="1"/>
          </p:cNvSpPr>
          <p:nvPr/>
        </p:nvSpPr>
        <p:spPr>
          <a:xfrm>
            <a:off x="843129" y="646302"/>
            <a:ext cx="10602297" cy="4105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535353"/>
                </a:solidFill>
                <a:latin typeface="Belfius21 Light"/>
                <a:ea typeface="Belfius21 Light"/>
                <a:cs typeface="Belfius21 Light"/>
              </a:defRPr>
            </a:lvl1pPr>
            <a:lvl2pPr marL="277240">
              <a:buNone/>
              <a:defRPr>
                <a:latin typeface="+mn-lt"/>
                <a:ea typeface="+mn-lt"/>
                <a:cs typeface="+mn-lt"/>
              </a:defRPr>
            </a:lvl2pPr>
            <a:lvl3pPr marL="554478">
              <a:buNone/>
              <a:defRPr>
                <a:latin typeface="+mn-lt"/>
                <a:ea typeface="+mn-lt"/>
                <a:cs typeface="+mn-lt"/>
              </a:defRPr>
            </a:lvl3pPr>
            <a:lvl4pPr marL="831718">
              <a:buNone/>
              <a:defRPr>
                <a:latin typeface="+mn-lt"/>
                <a:ea typeface="+mn-lt"/>
                <a:cs typeface="+mn-lt"/>
              </a:defRPr>
            </a:lvl4pPr>
            <a:lvl5pPr marL="1108956">
              <a:buNone/>
              <a:defRPr>
                <a:latin typeface="+mn-lt"/>
                <a:ea typeface="+mn-lt"/>
                <a:cs typeface="+mn-lt"/>
              </a:defRPr>
            </a:lvl5pPr>
            <a:lvl6pPr marL="1386196">
              <a:buNone/>
              <a:defRPr>
                <a:latin typeface="+mn-lt"/>
                <a:ea typeface="+mn-lt"/>
                <a:cs typeface="+mn-lt"/>
              </a:defRPr>
            </a:lvl6pPr>
            <a:lvl7pPr marL="1663434">
              <a:buNone/>
              <a:defRPr>
                <a:latin typeface="+mn-lt"/>
                <a:ea typeface="+mn-lt"/>
                <a:cs typeface="+mn-lt"/>
              </a:defRPr>
            </a:lvl7pPr>
            <a:lvl8pPr marL="1940674">
              <a:buNone/>
              <a:defRPr>
                <a:latin typeface="+mn-lt"/>
                <a:ea typeface="+mn-lt"/>
                <a:cs typeface="+mn-lt"/>
              </a:defRPr>
            </a:lvl8pPr>
            <a:lvl9pPr marL="2217913">
              <a:buNone/>
              <a:defRPr>
                <a:latin typeface="+mn-lt"/>
                <a:ea typeface="+mn-lt"/>
                <a:cs typeface="+mn-lt"/>
              </a:defRPr>
            </a:lvl9pPr>
          </a:lstStyle>
          <a:p>
            <a:pPr>
              <a:defRPr sz="2800" b="1"/>
            </a:pPr>
            <a:r>
              <a:t>Packages &amp; Technology 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97E88D-3D4D-BA34-8EA2-683D09318C19}"/>
              </a:ext>
            </a:extLst>
          </p:cNvPr>
          <p:cNvSpPr>
            <a:spLocks noGrp="1"/>
          </p:cNvSpPr>
          <p:nvPr/>
        </p:nvSpPr>
        <p:spPr>
          <a:xfrm>
            <a:off x="723169" y="1339988"/>
            <a:ext cx="9207215" cy="2064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742950" indent="-285750">
              <a:spcAft>
                <a:spcPts val="1000"/>
              </a:spcAft>
              <a:buChar char="•"/>
              <a:defRPr sz="2100" b="1"/>
            </a:pPr>
            <a:r>
              <a:t>Technology Stack</a:t>
            </a:r>
          </a:p>
          <a:p>
            <a:pPr lvl="1">
              <a:spcAft>
                <a:spcPts val="1000"/>
              </a:spcAft>
              <a:defRPr sz="1900" b="0"/>
            </a:pPr>
            <a:r>
              <a:t>FastAPI — backend API and request handling</a:t>
            </a:r>
          </a:p>
          <a:p>
            <a:pPr lvl="1">
              <a:spcAft>
                <a:spcPts val="1000"/>
              </a:spcAft>
              <a:defRPr sz="1900" b="0"/>
            </a:pPr>
            <a:r>
              <a:t>Jinja2 — server-side HTML templates and dashboard rendering</a:t>
            </a:r>
          </a:p>
          <a:p>
            <a:pPr lvl="1">
              <a:spcAft>
                <a:spcPts val="1000"/>
              </a:spcAft>
              <a:defRPr sz="1900" b="0"/>
            </a:pPr>
            <a:r>
              <a:t>Python — validation logic and application services</a:t>
            </a:r>
          </a:p>
          <a:p>
            <a:pPr lvl="1">
              <a:spcAft>
                <a:spcPts val="1000"/>
              </a:spcAft>
              <a:defRPr sz="1900" b="0"/>
            </a:pPr>
            <a:r>
              <a:t>Pandas — Excel sheet reading and row-level data validation</a:t>
            </a:r>
          </a:p>
          <a:p>
            <a:pPr lvl="1">
              <a:spcAft>
                <a:spcPts val="1000"/>
              </a:spcAft>
              <a:defRPr sz="1900" b="0"/>
            </a:pPr>
            <a:r>
              <a:t>OpenPyXL — Excel workbook support and spreadsheet processing</a:t>
            </a:r>
          </a:p>
          <a:p>
            <a:pPr lvl="1">
              <a:spcAft>
                <a:spcPts val="1000"/>
              </a:spcAft>
              <a:defRPr sz="1900" b="0"/>
            </a:pPr>
            <a:r>
              <a:t>python-dotenv — environment configuration</a:t>
            </a:r>
          </a:p>
          <a:p>
            <a:pPr lvl="1">
              <a:spcAft>
                <a:spcPts val="1000"/>
              </a:spcAft>
              <a:defRPr sz="1900" b="0"/>
            </a:pPr>
            <a:r>
              <a:t>HTML / CSS / JavaScript — dashboard user interface</a:t>
            </a:r>
          </a:p>
          <a:p>
            <a:pPr lvl="1">
              <a:spcAft>
                <a:spcPts val="1000"/>
              </a:spcAft>
              <a:defRPr sz="1900" b="0"/>
            </a:pPr>
            <a:r>
              <a:t>Key validation modules: validator.py, physical.py, metadata.py, other_actions.py, service_request.py, duplicate.py, summary.py and helpers.py</a:t>
            </a:r>
          </a:p>
        </p:txBody>
      </p:sp>
    </p:spTree>
    <p:extLst>
      <p:ext uri="{BB962C8B-B14F-4D97-AF65-F5344CB8AC3E}">
        <p14:creationId xmlns:p14="http://schemas.microsoft.com/office/powerpoint/2010/main" val="869398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16DFA-F8D1-B9AF-81AC-A26620FACAB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defRPr sz="2800" b="1"/>
            </a:pPr>
            <a:r>
              <a:t>Validation Flow &amp; Dashboard Output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B15C11-176D-5509-DF8A-FBEDF3DD173F}"/>
              </a:ext>
            </a:extLst>
          </p:cNvPr>
          <p:cNvSpPr>
            <a:spLocks noGrp="1"/>
          </p:cNvSpPr>
          <p:nvPr/>
        </p:nvSpPr>
        <p:spPr>
          <a:xfrm>
            <a:off x="242641" y="3348311"/>
            <a:ext cx="2692514" cy="7444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/>
            </a:pPr>
            <a:r>
              <a:t>1. Input</a:t>
            </a:r>
          </a:p>
          <a:p>
            <a:pPr>
              <a:defRPr sz="1800" b="1"/>
            </a:pPr>
            <a:r>
              <a:t>Release + Date + Environment + Scope + XLSX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E58C02-FA3C-C5B1-10F7-5C451DE71A5F}"/>
              </a:ext>
            </a:extLst>
          </p:cNvPr>
          <p:cNvSpPr>
            <a:spLocks noGrp="1"/>
          </p:cNvSpPr>
          <p:nvPr/>
        </p:nvSpPr>
        <p:spPr>
          <a:xfrm>
            <a:off x="2777051" y="3348311"/>
            <a:ext cx="2692514" cy="7444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/>
            </a:pPr>
            <a:r>
              <a:t>2. Select</a:t>
            </a:r>
          </a:p>
          <a:p>
            <a:pPr>
              <a:defRPr sz="1800" b="1"/>
            </a:pPr>
            <a:r>
              <a:t>Required sheets and matching records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F705FD-B662-2D18-E5B0-122C54806C74}"/>
              </a:ext>
            </a:extLst>
          </p:cNvPr>
          <p:cNvSpPr>
            <a:spLocks noGrp="1"/>
          </p:cNvSpPr>
          <p:nvPr/>
        </p:nvSpPr>
        <p:spPr>
          <a:xfrm>
            <a:off x="5749147" y="3390078"/>
            <a:ext cx="2692514" cy="7444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/>
            </a:pPr>
            <a:r>
              <a:t>3. Validate</a:t>
            </a:r>
          </a:p>
          <a:p>
            <a:pPr>
              <a:defRPr sz="1800" b="1"/>
            </a:pPr>
            <a:r>
              <a:t>Fields + readiness + duplicates + components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B6F84B-09D3-D1DB-14B0-7E9EA6348144}"/>
              </a:ext>
            </a:extLst>
          </p:cNvPr>
          <p:cNvSpPr>
            <a:spLocks noGrp="1"/>
          </p:cNvSpPr>
          <p:nvPr/>
        </p:nvSpPr>
        <p:spPr>
          <a:xfrm>
            <a:off x="8807029" y="3390078"/>
            <a:ext cx="2692514" cy="7444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/>
            </a:pPr>
            <a:r>
              <a:t>4. Report</a:t>
            </a:r>
          </a:p>
          <a:p>
            <a:pPr>
              <a:defRPr sz="1800" b="1"/>
            </a:pPr>
            <a:r>
              <a:t>Correct / Incorrect / Total + exceptions</a:t>
            </a:r>
          </a:p>
        </p:txBody>
      </p:sp>
    </p:spTree>
    <p:extLst>
      <p:ext uri="{BB962C8B-B14F-4D97-AF65-F5344CB8AC3E}">
        <p14:creationId xmlns:p14="http://schemas.microsoft.com/office/powerpoint/2010/main" val="2368103306"/>
      </p:ext>
    </p:extLst>
  </p:cSld>
  <p:clrMapOvr>
    <a:masterClrMapping/>
  </p:clrMapOvr>
</p:sld>
</file>

<file path=ppt/theme/theme1.xml><?xml version="1.0" encoding="utf-8"?>
<a:theme xmlns:a="http://schemas.openxmlformats.org/drawingml/2006/main" name="1_Belfius_template">
  <a:themeElements>
    <a:clrScheme name="Belfius">
      <a:dk1>
        <a:srgbClr val="51626F"/>
      </a:dk1>
      <a:lt1>
        <a:srgbClr val="979FAA"/>
      </a:lt1>
      <a:dk2>
        <a:srgbClr val="D2D2D7"/>
      </a:dk2>
      <a:lt2>
        <a:srgbClr val="EBEBE6"/>
      </a:lt2>
      <a:accent1>
        <a:srgbClr val="C30045"/>
      </a:accent1>
      <a:accent2>
        <a:srgbClr val="8C193C"/>
      </a:accent2>
      <a:accent3>
        <a:srgbClr val="AF1E3C"/>
      </a:accent3>
      <a:accent4>
        <a:srgbClr val="FFDAE1"/>
      </a:accent4>
      <a:accent5>
        <a:srgbClr val="F03241"/>
      </a:accent5>
      <a:accent6>
        <a:srgbClr val="FAAFA0"/>
      </a:accent6>
      <a:hlink>
        <a:srgbClr val="0000FF"/>
      </a:hlink>
      <a:folHlink>
        <a:srgbClr val="FF00FF"/>
      </a:folHlink>
    </a:clrScheme>
    <a:fontScheme name="Custom 1">
      <a:majorFont>
        <a:latin typeface="Belfius Montserrat Light"/>
        <a:ea typeface=""/>
        <a:cs typeface=""/>
      </a:majorFont>
      <a:minorFont>
        <a:latin typeface="Belfius Montserrat Light"/>
        <a:ea typeface=""/>
        <a:cs typeface=""/>
      </a:minorFont>
    </a:fontScheme>
    <a:fmtScheme name="Belfi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elfius_template">
  <a:themeElements>
    <a:clrScheme name="Belfius">
      <a:dk1>
        <a:srgbClr val="51626F"/>
      </a:dk1>
      <a:lt1>
        <a:srgbClr val="979FAA"/>
      </a:lt1>
      <a:dk2>
        <a:srgbClr val="D2D2D7"/>
      </a:dk2>
      <a:lt2>
        <a:srgbClr val="EBEBE6"/>
      </a:lt2>
      <a:accent1>
        <a:srgbClr val="C30045"/>
      </a:accent1>
      <a:accent2>
        <a:srgbClr val="8C193C"/>
      </a:accent2>
      <a:accent3>
        <a:srgbClr val="AF1E3C"/>
      </a:accent3>
      <a:accent4>
        <a:srgbClr val="FFDAE1"/>
      </a:accent4>
      <a:accent5>
        <a:srgbClr val="F03241"/>
      </a:accent5>
      <a:accent6>
        <a:srgbClr val="FAAFA0"/>
      </a:accent6>
      <a:hlink>
        <a:srgbClr val="0000FF"/>
      </a:hlink>
      <a:folHlink>
        <a:srgbClr val="FF00FF"/>
      </a:folHlink>
    </a:clrScheme>
    <a:fontScheme name="Custom 1">
      <a:majorFont>
        <a:latin typeface="Belfius Montserrat Light"/>
        <a:ea typeface=""/>
        <a:cs typeface=""/>
      </a:majorFont>
      <a:minorFont>
        <a:latin typeface="Belfius Montserrat Light"/>
        <a:ea typeface=""/>
        <a:cs typeface=""/>
      </a:minorFont>
    </a:fontScheme>
    <a:fmtScheme name="Belfi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1_Belfius_template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15</cp:revision>
  <dcterms:created xsi:type="dcterms:W3CDTF">2026-08-02T06:44:48Z</dcterms:created>
  <dcterms:modified xsi:type="dcterms:W3CDTF">2026-09-15T09:40:14Z</dcterms:modified>
</cp:coreProperties>
</file>